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Merriweather Black" panose="020B0604020202020204" charset="0"/>
      <p:bold r:id="rId18"/>
      <p:boldItalic r:id="rId19"/>
    </p:embeddedFont>
    <p:embeddedFont>
      <p:font typeface="DM Sans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Merriweather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52550" y="2281237"/>
            <a:ext cx="9486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A31621"/>
                </a:solidFill>
                <a:latin typeface="DM Sans"/>
                <a:ea typeface="DM Sans"/>
                <a:cs typeface="DM Sans"/>
                <a:sym typeface="DM Sans"/>
              </a:rPr>
              <a:t>PART 5.3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15377" y="2726977"/>
            <a:ext cx="996124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5088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Types of Machine Learning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79502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52550" y="4203352"/>
            <a:ext cx="9486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A categorized overview of the main learning paradigms.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7620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5.3.1 Supervised Learning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2247900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algorithm learns from labeled training data, where each example includes both input features and the correct output (target value).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47750" y="4236243"/>
            <a:ext cx="428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 data consists of (input, output) pairs.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5097065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learns to map inputs to outputs.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750" y="5622726"/>
            <a:ext cx="428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Make accurate predictions on new, unseen data.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7434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13516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660826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1715988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Predicting Discrete Categories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57250" y="2125563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Binary Classification: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Two possible outcomes.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(e.g., Spam/Not Spam, Disease/No Disease)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2986385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Multiclass Classification: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Multiple distinct categories.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(e.g., Digit recognition 0-9, Animal species)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4182367"/>
            <a:ext cx="5000625" cy="18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Common Examples: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43000" y="4612778"/>
            <a:ext cx="4714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Medical diagnosis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43000" y="5138439"/>
            <a:ext cx="4714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Image classification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43000" y="5664100"/>
            <a:ext cx="4714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Sentiment analysis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Type A: Classification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6366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2448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2046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65087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17653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70220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079724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Predicting Continuous Values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50834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Unlike classification, regression models predict numerical values that can fall anywhere within a continuous range.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57250" y="372338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House price prediction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424904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Stock price forecasting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477470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Temperature prediction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530036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Sales forecasting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Type B: Regression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6148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8714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280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846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7940"/>
            <a:ext cx="3492400" cy="228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07940"/>
            <a:ext cx="3492549" cy="228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807940"/>
            <a:ext cx="3492400" cy="228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09369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19150" y="3522315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Models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7300" y="309369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4597300" y="3522315"/>
            <a:ext cx="314711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Tree-Based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5600" y="309369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375600" y="3522315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Complex Models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38833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09650" y="3884265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42052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09650" y="4206180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Logistic Regression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730650" y="38833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787800" y="3884265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Decision Trees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730650" y="42052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787800" y="4206180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Random Forests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508950" y="38833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566100" y="3884265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Support Vector Machines (SVM)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508950" y="42052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566100" y="4206180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Neural Networks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508950" y="452714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66100" y="4528095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K-Nearest Neighbors (KNN)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Supervised Algorithms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62000" y="7620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5.3.2 Unsupervised Learning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62000" y="2247900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algorithm learns patterns from unlabeled data without explicit target outputs. The system discovers hidden structures and relationships on its own.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49149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047750" y="4236243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Only input data is provided (no labels).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47750" y="4761904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identifies patterns or groupings.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47750" y="5287565"/>
            <a:ext cx="428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Discover inherent organization in the data.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7434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0000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32566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600" y="-71149"/>
            <a:ext cx="527976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1912143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Grouping Similar Data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2340768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Clustering algorithms organize unlabelled data points into groups (clusters) where items in the same group are more similar to each other than to those in other groups.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857250" y="389096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Customer segmentation for marketing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57250" y="441662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Document organization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57250" y="494228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 sequence analysis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57250" y="5467945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Image compression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Type A: Clustering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290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472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8038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0604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8637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19250"/>
            <a:ext cx="528637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19150" y="1905000"/>
            <a:ext cx="50306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Dimensionality Reduction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819150" y="2266950"/>
            <a:ext cx="47910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819150" y="2381250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Reducing the number of features while preserving important information.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581775" y="1905000"/>
            <a:ext cx="50306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Anomaly Detection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581775" y="2266950"/>
            <a:ext cx="47910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581775" y="2381250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Identifying unusual patterns or outliers that do not conform to expected behavior.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52500" y="307175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009650" y="3072705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visualization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52500" y="33936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009650" y="339462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 extraction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52500" y="371558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09650" y="3716535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Noise reduction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52500" y="403749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009650" y="4038451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Computational efficiency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715125" y="307175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772275" y="3072705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Fraud detection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715125" y="33936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772275" y="339462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Network intrusion detection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715125" y="371558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772275" y="3716535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Manufacturing defect detection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Dimensionality &amp; Anomalies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7057"/>
            <a:ext cx="3492400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47057"/>
            <a:ext cx="3492549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47057"/>
            <a:ext cx="3492400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93280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819150" y="3361432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Clustering</a:t>
            </a:r>
            <a:endParaRPr/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7300" y="293280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4597300" y="3361432"/>
            <a:ext cx="314711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Dim. Reduction</a:t>
            </a:r>
            <a:endParaRPr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5600" y="293280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8375600" y="3361432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Outlier Detection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52500" y="372242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009650" y="3723382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 Clustering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52500" y="4044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09650" y="4045297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Hierarchical Clustering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52500" y="43662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09650" y="4367212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DBSCAN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952500" y="468817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009650" y="4689127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Gaussian Mixture Models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4730650" y="372242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787800" y="3723382"/>
            <a:ext cx="28067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Principal Component Analysis (PCA)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730650" y="431863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787800" y="4319587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t-SNE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4730650" y="464055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4787800" y="4641502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Autoencoders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508950" y="372242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566100" y="3723382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Isolation Forests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508950" y="4044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566100" y="4045297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One-Class SVM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Unsupervised Algorithms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762000" y="831949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5.3.3 Reinforcement Learning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762000" y="2317849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 agent learns to make decisions by interacting with an environment, receiving rewards or penalties based on its actions.</a:t>
            </a:r>
            <a:endParaRPr/>
          </a:p>
        </p:txBody>
      </p:sp>
      <p:pic>
        <p:nvPicPr>
          <p:cNvPr id="278" name="Google Shape;27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1047750" y="3971032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 takes actions in an environment.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047750" y="4496692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Receives feedback (Reward/Penalty).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47750" y="5022353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Learns to maximize cumulative reward.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47750" y="5548014"/>
            <a:ext cx="4286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Discover optimal strategy (policy).</a:t>
            </a:r>
            <a:endParaRPr/>
          </a:p>
        </p:txBody>
      </p:sp>
      <p:pic>
        <p:nvPicPr>
          <p:cNvPr id="283" name="Google Shape;2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913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3479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06045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58611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61369"/>
            <a:ext cx="5286375" cy="2183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571500" y="281493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The Learning Loop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581775" y="3147119"/>
            <a:ext cx="503062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876300" y="322546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952500" y="322451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learner/decision maker.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876300" y="356062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952500" y="355967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Environment: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world the agent interacts with.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76300" y="389578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952500" y="389483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Current situation of the agent.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876300" y="423094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952500" y="422999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Choices available to the agent.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876300" y="456610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952500" y="456515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Reward: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Feedback signal indicating success.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715125" y="350811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772275" y="3509069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Game playing (Chess, Go)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715125" y="38300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772275" y="3830984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Robotics &amp; autonomous navigation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715125" y="415194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772275" y="415290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Resource allocation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715125" y="447386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772275" y="4474815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Traffic signal control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Components &amp; Examples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8972"/>
            <a:ext cx="3492400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968972"/>
            <a:ext cx="3492549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968972"/>
            <a:ext cx="3492400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25472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819150" y="3683347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Value-Based</a:t>
            </a:r>
            <a:endParaRPr/>
          </a:p>
        </p:txBody>
      </p:sp>
      <p:pic>
        <p:nvPicPr>
          <p:cNvPr id="325" name="Google Shape;32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7300" y="325472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4597300" y="3683347"/>
            <a:ext cx="314711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Policy-Based</a:t>
            </a:r>
            <a:endParaRPr/>
          </a:p>
        </p:txBody>
      </p:sp>
      <p:pic>
        <p:nvPicPr>
          <p:cNvPr id="327" name="Google Shape;327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5600" y="325472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8375600" y="3683347"/>
            <a:ext cx="31469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Systems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952500" y="4044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009650" y="4045297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Q-Learning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952500" y="43662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009650" y="4367212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Deep Q-Networks (DQN)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4730650" y="4044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4787800" y="4045297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Policy Gradient Methods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4730650" y="43662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4787800" y="4367212"/>
            <a:ext cx="280674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Actor-Critic Methods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8508950" y="4044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8566100" y="4045297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AlphaGo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8508950" y="43662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8566100" y="4367212"/>
            <a:ext cx="2806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AlphaZero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RL Algorithms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59408"/>
            <a:ext cx="5286375" cy="171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8129"/>
            <a:ext cx="5286375" cy="1443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02559"/>
            <a:ext cx="5286375" cy="1443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 txBox="1"/>
          <p:nvPr/>
        </p:nvSpPr>
        <p:spPr>
          <a:xfrm>
            <a:off x="819150" y="1745158"/>
            <a:ext cx="503062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Semi-Supervised Learning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819150" y="2107108"/>
            <a:ext cx="47910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Combines a small amount of labeled data with large amounts of unlabeled data. Useful when labeling is expensive.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819150" y="3653879"/>
            <a:ext cx="503062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Self-Supervised Learning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819150" y="4015829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Creates labels from the data itself (e.g., predicting the next word in a sentence).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819150" y="5288309"/>
            <a:ext cx="503062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Transfer Learning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819150" y="5650259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Applying knowledge learned from one task to a different but related task.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571500" y="411658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5.3.4 Other Learning Paradigms</a:t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571500" y="1049833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/>
          <p:nvPr/>
        </p:nvSpPr>
        <p:spPr>
          <a:xfrm>
            <a:off x="571500" y="16033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571500" y="238809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571500" y="31728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71500" y="39576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571500" y="474240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571500" y="23785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571500" y="23785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571500" y="31633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571500" y="31633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571500" y="4732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571500" y="4732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571500" y="5517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571500" y="5517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7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 txBox="1"/>
          <p:nvPr/>
        </p:nvSpPr>
        <p:spPr>
          <a:xfrm>
            <a:off x="1666875" y="17462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https://miro.medium.com/0*d23sAIFGW7bkGMTI.png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666875" y="19919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384" name="Google Shape;38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375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6"/>
          <p:cNvSpPr txBox="1"/>
          <p:nvPr/>
        </p:nvSpPr>
        <p:spPr>
          <a:xfrm>
            <a:off x="1666875" y="253097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https://miro.medium.com/v2/resize:fit:2000/1*g1SoX7Hbh6vEdRGyQgcf7A.png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1666875" y="277668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387" name="Google Shape;38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222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6"/>
          <p:cNvSpPr txBox="1"/>
          <p:nvPr/>
        </p:nvSpPr>
        <p:spPr>
          <a:xfrm>
            <a:off x="1666875" y="33157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https://miro.medium.com/1*Zm2Hu724W6UQCVWWQe7afg.jpeg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1666875" y="3561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datalesdatales.medium.com</a:t>
            </a:r>
            <a:endParaRPr/>
          </a:p>
        </p:txBody>
      </p:sp>
      <p:pic>
        <p:nvPicPr>
          <p:cNvPr id="390" name="Google Shape;390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07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6"/>
          <p:cNvSpPr txBox="1"/>
          <p:nvPr/>
        </p:nvSpPr>
        <p:spPr>
          <a:xfrm>
            <a:off x="1666875" y="41005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x-raw-image:///42fb95d4bf5f97aafb564ea14dc00a62ae7c6b90e984e94ac4f7d587e67b4d15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1666875" y="43462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www.microsoft.com</a:t>
            </a:r>
            <a:endParaRPr/>
          </a:p>
        </p:txBody>
      </p:sp>
      <p:pic>
        <p:nvPicPr>
          <p:cNvPr id="393" name="Google Shape;393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91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 txBox="1"/>
          <p:nvPr/>
        </p:nvSpPr>
        <p:spPr>
          <a:xfrm>
            <a:off x="1666875" y="48852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https://towardsdatascience.com/wp-content/uploads/2021/07/1xCKGM7tUzoR53oFv4yTPWA.png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1666875" y="51309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towardsdatascience.com</a:t>
            </a:r>
            <a:endParaRPr/>
          </a:p>
        </p:txBody>
      </p:sp>
      <p:pic>
        <p:nvPicPr>
          <p:cNvPr id="396" name="Google Shape;396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766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6"/>
          <p:cNvSpPr txBox="1"/>
          <p:nvPr/>
        </p:nvSpPr>
        <p:spPr>
          <a:xfrm>
            <a:off x="1666875" y="56700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https://miro.medium.com/v2/resize:fit:1400/0*AMgCGArY675Kt1qG</a:t>
            </a:r>
            <a:endParaRPr/>
          </a:p>
        </p:txBody>
      </p:sp>
      <p:sp>
        <p:nvSpPr>
          <p:cNvPr id="398" name="Google Shape;398;p26"/>
          <p:cNvSpPr txBox="1"/>
          <p:nvPr/>
        </p:nvSpPr>
        <p:spPr>
          <a:xfrm>
            <a:off x="1666875" y="59157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pub.towardsai.net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571500" y="555575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571500" y="1193750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146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7"/>
          <p:cNvSpPr txBox="1"/>
          <p:nvPr/>
        </p:nvSpPr>
        <p:spPr>
          <a:xfrm>
            <a:off x="1666875" y="37080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https://www.mdpi.com/sensors/sensors-22-01624/article_deploy/html/images/sensors-22-01624-g001.png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1666875" y="39537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645</Words>
  <Application>Microsoft Office PowerPoint</Application>
  <PresentationFormat>Grand écran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Merriweather Black</vt:lpstr>
      <vt:lpstr>DM Sans</vt:lpstr>
      <vt:lpstr>Calibri</vt:lpstr>
      <vt:lpstr>Arial</vt:lpstr>
      <vt:lpstr>Merriweather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AISSATOU</cp:lastModifiedBy>
  <cp:revision>2</cp:revision>
  <dcterms:modified xsi:type="dcterms:W3CDTF">2026-08-07T12:08:24Z</dcterms:modified>
</cp:coreProperties>
</file>