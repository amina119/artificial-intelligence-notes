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Merriweather Black"/>
      <p:bold r:id="rId13"/>
      <p:boldItalic r:id="rId14"/>
    </p:embeddedFont>
    <p:embeddedFont>
      <p:font typeface="DM Sans"/>
      <p:regular r:id="rId15"/>
      <p:bold r:id="rId16"/>
      <p:italic r:id="rId17"/>
      <p:boldItalic r:id="rId18"/>
    </p:embeddedFont>
    <p:embeddedFont>
      <p:font typeface="Merriweath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italic.fntdata"/><Relationship Id="rId13" Type="http://schemas.openxmlformats.org/officeDocument/2006/relationships/font" Target="fonts/MerriweatherBlack-bold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regular.fntdata"/><Relationship Id="rId14" Type="http://schemas.openxmlformats.org/officeDocument/2006/relationships/font" Target="fonts/MerriweatherBlack-boldItalic.fntdata"/><Relationship Id="rId17" Type="http://schemas.openxmlformats.org/officeDocument/2006/relationships/font" Target="fonts/DMSans-italic.fntdata"/><Relationship Id="rId16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regular.fntdata"/><Relationship Id="rId6" Type="http://schemas.openxmlformats.org/officeDocument/2006/relationships/slide" Target="slides/slide1.xml"/><Relationship Id="rId18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76425" y="2281237"/>
            <a:ext cx="8439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 u="none" cap="none" strike="noStrike">
                <a:solidFill>
                  <a:srgbClr val="A31621"/>
                </a:solidFill>
                <a:latin typeface="DM Sans"/>
                <a:ea typeface="DM Sans"/>
                <a:cs typeface="DM Sans"/>
                <a:sym typeface="DM Sans"/>
              </a:rPr>
              <a:t>ML FUNDAMENTALS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665446" y="2726977"/>
            <a:ext cx="8861107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005088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Data &amp; Model Evaluation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879502"/>
            <a:ext cx="95250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876425" y="4203352"/>
            <a:ext cx="84391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Essential concepts for robust machine learning pipelines.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969293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A31621"/>
                </a:solidFill>
                <a:latin typeface="Merriweather"/>
                <a:ea typeface="Merriweather"/>
                <a:cs typeface="Merriweather"/>
                <a:sym typeface="Merriweather"/>
              </a:rPr>
              <a:t>The Foundation of Learning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397918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dataset is the collection of examples (data points) used to train, validate, and test a machine learning model.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574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57250" y="3689151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Must be representative of the real-world problem.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4214812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High-quality data is far more critical than complex algorithms.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5075634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Data can include features (inputs) and labels (outputs/targets).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Dataset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2725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5291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13734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19250"/>
            <a:ext cx="35559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619250"/>
            <a:ext cx="35559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619250"/>
            <a:ext cx="35559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3126283"/>
            <a:ext cx="31368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02628" y="3650158"/>
            <a:ext cx="329369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A31621"/>
                </a:solidFill>
                <a:latin typeface="Merriweather"/>
                <a:ea typeface="Merriweather"/>
                <a:cs typeface="Merriweather"/>
                <a:sym typeface="Merriweather"/>
              </a:rPr>
              <a:t>Training Set (70-80%)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81050" y="4059733"/>
            <a:ext cx="31368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primary portion of data used to teach the model. The model learns weights and biases from this data.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27500" y="3006328"/>
            <a:ext cx="31368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449079" y="3530203"/>
            <a:ext cx="329369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A31621"/>
                </a:solidFill>
                <a:latin typeface="Merriweather"/>
                <a:ea typeface="Merriweather"/>
                <a:cs typeface="Merriweather"/>
                <a:sym typeface="Merriweather"/>
              </a:rPr>
              <a:t>Validation Set (10-15%)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27500" y="3939778"/>
            <a:ext cx="3136850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Used to fine-tune the model's hyperparameters (settings) and check for early signs of overfitting during training.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73950" y="3126283"/>
            <a:ext cx="31368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195529" y="3650158"/>
            <a:ext cx="329369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A31621"/>
                </a:solidFill>
                <a:latin typeface="Merriweather"/>
                <a:ea typeface="Merriweather"/>
                <a:cs typeface="Merriweather"/>
                <a:sym typeface="Merriweather"/>
              </a:rPr>
              <a:t>Testing Set (10-15%)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273950" y="4059733"/>
            <a:ext cx="31368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 entirely untouched subset used for the final, unbiased evaluation of the model's generalization ability.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Splitting: Training, Validation, and Testing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1326356"/>
            <a:ext cx="7620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2286000" y="2583656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Epoch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represents one complete pass through the entire training dataset during the learning process.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2571750" y="3996928"/>
            <a:ext cx="7334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Definition: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When every single data point in the training set has been used exactly once to update the model's parameters.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2571750" y="4857750"/>
            <a:ext cx="7334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Multiple epochs (e.g., 50, 100) are typically required for the model to learn the optimal patterns and converge.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2571750" y="5718571"/>
            <a:ext cx="7334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Related: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Data is often split into smaller </a:t>
            </a:r>
            <a:r>
              <a:rPr b="0" i="1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batches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and multiple *iterations* (steps) make up a single epoch.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278606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Training Cycle: The Epoch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916781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0" y="403502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0" y="489585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0" y="5756671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153888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A31621"/>
                </a:solidFill>
                <a:latin typeface="Merriweather"/>
                <a:ea typeface="Merriweather"/>
                <a:cs typeface="Merriweather"/>
                <a:sym typeface="Merriweather"/>
              </a:rPr>
              <a:t>Ensuring Reliability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1967507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technique used to evaluate the generalization ability of an ML model and mitigate the risk of sampling bias.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0574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857250" y="3258740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training data is repeatedly split into *k* subsets (folds).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57250" y="4119562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model is trained *k* times, each time using a different fold as the validation set.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57250" y="4980384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final performance metric is the average of the results from all *k* tests.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57250" y="5841206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Standard method: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K-Fold Cross-Validation.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491132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Robust Evaluation: Cross-Validation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1129307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9684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5766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01848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879306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92634"/>
            <a:ext cx="5286375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92859"/>
            <a:ext cx="5286375" cy="160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5393084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goal is to find the "Just Right" or Optimal Fit between these two extremes.</a:t>
            </a:r>
            <a:endParaRPr/>
          </a:p>
        </p:txBody>
      </p:sp>
      <p:pic>
        <p:nvPicPr>
          <p:cNvPr descr="image.png" id="166" name="Google Shape;16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34075" y="20574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11201400" y="3047255"/>
            <a:ext cx="819150" cy="1706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[Image of overfitting and underfitting in machine learning regression]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09625" y="1983134"/>
            <a:ext cx="51006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Overfitting (High Variance)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09625" y="2297459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When the model learns the training data and noise too well, resulting in high accuracy on the training set but poor performance on new data.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09625" y="3783359"/>
            <a:ext cx="51006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A31621"/>
                </a:solidFill>
                <a:latin typeface="Merriweather"/>
                <a:ea typeface="Merriweather"/>
                <a:cs typeface="Merriweather"/>
                <a:sym typeface="Merriweather"/>
              </a:rPr>
              <a:t>Underfitting (High Bias)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09625" y="4097684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When the model is too simple to capture the underlying relationships in the data, resulting in poor performance on both training and new data.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 Fit: Overfitting and Underfitting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9900" y="2227957"/>
            <a:ext cx="6172200" cy="2402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0" y="222795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2855595" y="3180457"/>
            <a:ext cx="648081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Discussion &amp; Q&amp;A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619750" y="3761482"/>
            <a:ext cx="9525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3009900" y="4085332"/>
            <a:ext cx="61722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Exploring further questions on model tuning and evaluation.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